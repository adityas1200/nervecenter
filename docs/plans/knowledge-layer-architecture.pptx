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rchitecture" id="{555bf0b5-c0d4-c3d6-9ffd-22e0eb1c80c1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top to bottom. 1 Sonic seeds knowledge from the client systems. 2 It writes drafts that cite their sources into the knowledge repo. 3 Sonic reads the knowledge on every task: map first, then catalog, search, pages and typed links. 6 It reads live state (runs, schemas, Unity Catalog) straight from the systems and never copies it. 4 What it learns in work (corrections, stuck points, lessons) goes to governance. 5 Only what a person keeps becomes knowledge. The weekly pass and per-journey evals keep it true and decide where autonomy grows.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eference architectu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96012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11480" y="2743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NerveCenter knowledge layer  ·  reference architecture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11480" y="694944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2"/>
                </a:solidFill>
              </a:rPr>
              <a:t>How client knowledge is built, stored, used and improved. OKF Markdown in the client's Git, read next to live systems, kept by people.</a:t>
            </a:r>
            <a:endParaRPr lang="en-US" sz="1150" dirty="0"/>
          </a:p>
        </p:txBody>
      </p:sp>
      <p:pic>
        <p:nvPicPr>
          <p:cNvPr id="4" name="Image 0" descr="n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0" y="292608"/>
            <a:ext cx="365760" cy="365760"/>
          </a:xfrm>
          <a:prstGeom prst="rect">
            <a:avLst/>
          </a:prstGeom>
        </p:spPr>
      </p:pic>
      <p:pic>
        <p:nvPicPr>
          <p:cNvPr id="5" name="Image 1" descr="Z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9960" y="292608"/>
            <a:ext cx="502920" cy="402336"/>
          </a:xfrm>
          <a:prstGeom prst="rect">
            <a:avLst/>
          </a:prstGeom>
        </p:spPr>
      </p:pic>
      <p:sp>
        <p:nvSpPr>
          <p:cNvPr id="6" name="layer Sources"/>
          <p:cNvSpPr/>
          <p:nvPr/>
        </p:nvSpPr>
        <p:spPr>
          <a:xfrm>
            <a:off x="411480" y="1115568"/>
            <a:ext cx="11365992" cy="841248"/>
          </a:xfrm>
          <a:prstGeom prst="roundRect">
            <a:avLst>
              <a:gd name="adj" fmla="val 5435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" name="band Sources"/>
          <p:cNvSpPr/>
          <p:nvPr/>
        </p:nvSpPr>
        <p:spPr>
          <a:xfrm>
            <a:off x="411480" y="1115568"/>
            <a:ext cx="1078992" cy="841248"/>
          </a:xfrm>
          <a:prstGeom prst="roundRect">
            <a:avLst>
              <a:gd name="adj" fmla="val 5435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521208" y="1188720"/>
            <a:ext cx="89611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Sources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client systems</a:t>
            </a:r>
            <a:endParaRPr lang="en-US" sz="1200" dirty="0"/>
          </a:p>
        </p:txBody>
      </p:sp>
      <p:sp>
        <p:nvSpPr>
          <p:cNvPr id="9" name="source ServiceNow"/>
          <p:cNvSpPr/>
          <p:nvPr/>
        </p:nvSpPr>
        <p:spPr>
          <a:xfrm>
            <a:off x="1600200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0" name="Image 2" descr="servicenow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1399032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2029968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ServiceNow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tickets, history</a:t>
            </a:r>
            <a:endParaRPr lang="en-US" sz="1050" dirty="0"/>
          </a:p>
        </p:txBody>
      </p:sp>
      <p:sp>
        <p:nvSpPr>
          <p:cNvPr id="12" name="source Jira"/>
          <p:cNvSpPr/>
          <p:nvPr/>
        </p:nvSpPr>
        <p:spPr>
          <a:xfrm>
            <a:off x="2862072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3" name="Image 3" descr="jir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3512" y="1399032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3291840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Jira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tickets, RCA</a:t>
            </a:r>
            <a:endParaRPr lang="en-US" sz="1050" dirty="0"/>
          </a:p>
        </p:txBody>
      </p:sp>
      <p:sp>
        <p:nvSpPr>
          <p:cNvPr id="15" name="source Confluence"/>
          <p:cNvSpPr/>
          <p:nvPr/>
        </p:nvSpPr>
        <p:spPr>
          <a:xfrm>
            <a:off x="4123944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6" name="Image 4" descr="confluence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5384" y="139903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4553712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Confluence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SOPs, wiki</a:t>
            </a:r>
            <a:endParaRPr lang="en-US" sz="1050" dirty="0"/>
          </a:p>
        </p:txBody>
      </p:sp>
      <p:sp>
        <p:nvSpPr>
          <p:cNvPr id="18" name="source SharePoint"/>
          <p:cNvSpPr/>
          <p:nvPr/>
        </p:nvSpPr>
        <p:spPr>
          <a:xfrm>
            <a:off x="5385816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19" name="Image 5" descr="sharepoint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7256" y="1399032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5815584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SharePoint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docs, decks</a:t>
            </a:r>
            <a:endParaRPr lang="en-US" sz="1050" dirty="0"/>
          </a:p>
        </p:txBody>
      </p:sp>
      <p:sp>
        <p:nvSpPr>
          <p:cNvPr id="21" name="source Transcripts"/>
          <p:cNvSpPr/>
          <p:nvPr/>
        </p:nvSpPr>
        <p:spPr>
          <a:xfrm>
            <a:off x="6647688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2" name="Image 6" descr="transcrip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39128" y="1399032"/>
            <a:ext cx="274320" cy="27432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077456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Transcripts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KT interviews</a:t>
            </a:r>
            <a:endParaRPr lang="en-US" sz="1050" dirty="0"/>
          </a:p>
        </p:txBody>
      </p:sp>
      <p:sp>
        <p:nvSpPr>
          <p:cNvPr id="24" name="source GitHub"/>
          <p:cNvSpPr/>
          <p:nvPr/>
        </p:nvSpPr>
        <p:spPr>
          <a:xfrm>
            <a:off x="7909560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5" name="Image 7" descr="github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399032"/>
            <a:ext cx="274320" cy="274320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8339328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GitHub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repos, config</a:t>
            </a:r>
            <a:endParaRPr lang="en-US" sz="1050" dirty="0"/>
          </a:p>
        </p:txBody>
      </p:sp>
      <p:sp>
        <p:nvSpPr>
          <p:cNvPr id="27" name="source Databricks"/>
          <p:cNvSpPr/>
          <p:nvPr/>
        </p:nvSpPr>
        <p:spPr>
          <a:xfrm>
            <a:off x="9171432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28" name="Image 8" descr="databricks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62872" y="1399032"/>
            <a:ext cx="274320" cy="27432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9601200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Databricks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jobs, catalog</a:t>
            </a:r>
            <a:endParaRPr lang="en-US" sz="1050" dirty="0"/>
          </a:p>
        </p:txBody>
      </p:sp>
      <p:sp>
        <p:nvSpPr>
          <p:cNvPr id="30" name="source Snowflake"/>
          <p:cNvSpPr/>
          <p:nvPr/>
        </p:nvSpPr>
        <p:spPr>
          <a:xfrm>
            <a:off x="10433304" y="1225296"/>
            <a:ext cx="1170432" cy="621792"/>
          </a:xfrm>
          <a:prstGeom prst="roundRect">
            <a:avLst>
              <a:gd name="adj" fmla="val 7353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pic>
        <p:nvPicPr>
          <p:cNvPr id="31" name="Image 9" descr="snowflake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4744" y="1399032"/>
            <a:ext cx="274320" cy="274320"/>
          </a:xfrm>
          <a:prstGeom prst="rect">
            <a:avLst/>
          </a:prstGeom>
        </p:spPr>
      </p:pic>
      <p:sp>
        <p:nvSpPr>
          <p:cNvPr id="32" name="Text 20"/>
          <p:cNvSpPr txBox="1"/>
          <p:nvPr/>
        </p:nvSpPr>
        <p:spPr>
          <a:xfrm>
            <a:off x="10863072" y="1225296"/>
            <a:ext cx="6949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Snowflake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warehouse</a:t>
            </a:r>
            <a:endParaRPr lang="en-US" sz="1050" dirty="0"/>
          </a:p>
        </p:txBody>
      </p:sp>
      <p:sp>
        <p:nvSpPr>
          <p:cNvPr id="33" name="sonic"/>
          <p:cNvSpPr/>
          <p:nvPr/>
        </p:nvSpPr>
        <p:spPr>
          <a:xfrm>
            <a:off x="9491472" y="2249424"/>
            <a:ext cx="2286000" cy="2670048"/>
          </a:xfrm>
          <a:prstGeom prst="roundRect">
            <a:avLst>
              <a:gd name="adj" fmla="val 2000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34" name="Image 10" descr="nc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628632" y="2377440"/>
            <a:ext cx="292608" cy="292608"/>
          </a:xfrm>
          <a:prstGeom prst="rect">
            <a:avLst/>
          </a:prstGeom>
        </p:spPr>
      </p:pic>
      <p:sp>
        <p:nvSpPr>
          <p:cNvPr id="35" name="Text 22"/>
          <p:cNvSpPr txBox="1"/>
          <p:nvPr/>
        </p:nvSpPr>
        <p:spPr>
          <a:xfrm>
            <a:off x="9994392" y="234086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Sonic</a:t>
            </a:r>
            <a:endParaRPr lang="en-US" sz="130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agent, runs on Claude</a:t>
            </a:r>
            <a:endParaRPr lang="en-US" sz="1300" dirty="0"/>
          </a:p>
        </p:txBody>
      </p:sp>
      <p:pic>
        <p:nvPicPr>
          <p:cNvPr id="36" name="Image 11" descr="claude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48288" y="2414016"/>
            <a:ext cx="201168" cy="201168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9628632" y="285292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How it reads</a:t>
            </a:r>
            <a:endParaRPr lang="en-US" sz="950" dirty="0"/>
          </a:p>
        </p:txBody>
      </p:sp>
      <p:sp>
        <p:nvSpPr>
          <p:cNvPr id="38" name="read step 0"/>
          <p:cNvSpPr/>
          <p:nvPr/>
        </p:nvSpPr>
        <p:spPr>
          <a:xfrm>
            <a:off x="9646920" y="3118104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9" name="Text 25"/>
          <p:cNvSpPr txBox="1"/>
          <p:nvPr/>
        </p:nvSpPr>
        <p:spPr>
          <a:xfrm>
            <a:off x="9646920" y="3118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1</a:t>
            </a:r>
            <a:endParaRPr lang="en-US" sz="800" dirty="0"/>
          </a:p>
        </p:txBody>
      </p:sp>
      <p:sp>
        <p:nvSpPr>
          <p:cNvPr id="40" name="Text 26"/>
          <p:cNvSpPr txBox="1"/>
          <p:nvPr/>
        </p:nvSpPr>
        <p:spPr>
          <a:xfrm>
            <a:off x="9884664" y="3090672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index.md: the map</a:t>
            </a:r>
            <a:endParaRPr lang="en-US" sz="1000" dirty="0"/>
          </a:p>
        </p:txBody>
      </p:sp>
      <p:sp>
        <p:nvSpPr>
          <p:cNvPr id="41" name="read step 1"/>
          <p:cNvSpPr/>
          <p:nvPr/>
        </p:nvSpPr>
        <p:spPr>
          <a:xfrm>
            <a:off x="9646920" y="3383280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2" name="Text 28"/>
          <p:cNvSpPr txBox="1"/>
          <p:nvPr/>
        </p:nvSpPr>
        <p:spPr>
          <a:xfrm>
            <a:off x="9646920" y="3383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2</a:t>
            </a:r>
            <a:endParaRPr lang="en-US" sz="800" dirty="0"/>
          </a:p>
        </p:txBody>
      </p:sp>
      <p:sp>
        <p:nvSpPr>
          <p:cNvPr id="43" name="Text 29"/>
          <p:cNvSpPr txBox="1"/>
          <p:nvPr/>
        </p:nvSpPr>
        <p:spPr>
          <a:xfrm>
            <a:off x="9884664" y="335584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catalog: pages and fields</a:t>
            </a:r>
            <a:endParaRPr lang="en-US" sz="1000" dirty="0"/>
          </a:p>
        </p:txBody>
      </p:sp>
      <p:sp>
        <p:nvSpPr>
          <p:cNvPr id="44" name="read step 2"/>
          <p:cNvSpPr/>
          <p:nvPr/>
        </p:nvSpPr>
        <p:spPr>
          <a:xfrm>
            <a:off x="9646920" y="3648456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5" name="Text 31"/>
          <p:cNvSpPr txBox="1"/>
          <p:nvPr/>
        </p:nvSpPr>
        <p:spPr>
          <a:xfrm>
            <a:off x="9646920" y="364845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3</a:t>
            </a:r>
            <a:endParaRPr lang="en-US" sz="800" dirty="0"/>
          </a:p>
        </p:txBody>
      </p:sp>
      <p:sp>
        <p:nvSpPr>
          <p:cNvPr id="46" name="Text 32"/>
          <p:cNvSpPr txBox="1"/>
          <p:nvPr/>
        </p:nvSpPr>
        <p:spPr>
          <a:xfrm>
            <a:off x="9884664" y="362102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search by words</a:t>
            </a:r>
            <a:endParaRPr lang="en-US" sz="1000" dirty="0"/>
          </a:p>
        </p:txBody>
      </p:sp>
      <p:sp>
        <p:nvSpPr>
          <p:cNvPr id="47" name="read step 3"/>
          <p:cNvSpPr/>
          <p:nvPr/>
        </p:nvSpPr>
        <p:spPr>
          <a:xfrm>
            <a:off x="9646920" y="3913632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48" name="Text 34"/>
          <p:cNvSpPr txBox="1"/>
          <p:nvPr/>
        </p:nvSpPr>
        <p:spPr>
          <a:xfrm>
            <a:off x="9646920" y="391363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4</a:t>
            </a:r>
            <a:endParaRPr lang="en-US" sz="800" dirty="0"/>
          </a:p>
        </p:txBody>
      </p:sp>
      <p:sp>
        <p:nvSpPr>
          <p:cNvPr id="49" name="Text 35"/>
          <p:cNvSpPr txBox="1"/>
          <p:nvPr/>
        </p:nvSpPr>
        <p:spPr>
          <a:xfrm>
            <a:off x="9884664" y="3886200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read whole short pages</a:t>
            </a:r>
            <a:endParaRPr lang="en-US" sz="1000" dirty="0"/>
          </a:p>
        </p:txBody>
      </p:sp>
      <p:sp>
        <p:nvSpPr>
          <p:cNvPr id="50" name="read step 4"/>
          <p:cNvSpPr/>
          <p:nvPr/>
        </p:nvSpPr>
        <p:spPr>
          <a:xfrm>
            <a:off x="9646920" y="4178808"/>
            <a:ext cx="164592" cy="16459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1" name="Text 37"/>
          <p:cNvSpPr txBox="1"/>
          <p:nvPr/>
        </p:nvSpPr>
        <p:spPr>
          <a:xfrm>
            <a:off x="9646920" y="417880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5</a:t>
            </a:r>
            <a:endParaRPr lang="en-US" sz="800" dirty="0"/>
          </a:p>
        </p:txBody>
      </p:sp>
      <p:sp>
        <p:nvSpPr>
          <p:cNvPr id="52" name="Text 38"/>
          <p:cNvSpPr txBox="1"/>
          <p:nvPr/>
        </p:nvSpPr>
        <p:spPr>
          <a:xfrm>
            <a:off x="9884664" y="4151376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follow typed links</a:t>
            </a:r>
            <a:endParaRPr lang="en-US" sz="1000" dirty="0"/>
          </a:p>
        </p:txBody>
      </p:sp>
      <p:sp>
        <p:nvSpPr>
          <p:cNvPr id="53" name="Text 39"/>
          <p:cNvSpPr txBox="1"/>
          <p:nvPr/>
        </p:nvSpPr>
        <p:spPr>
          <a:xfrm>
            <a:off x="9628632" y="446227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chemeClr val="tx2"/>
                </a:solidFill>
              </a:rPr>
              <a:t>Answers cite pages. Live state is read, never copied.</a:t>
            </a:r>
            <a:endParaRPr lang="en-US" sz="950" dirty="0"/>
          </a:p>
        </p:txBody>
      </p:sp>
      <p:sp>
        <p:nvSpPr>
          <p:cNvPr id="54" name="layer Build"/>
          <p:cNvSpPr/>
          <p:nvPr/>
        </p:nvSpPr>
        <p:spPr>
          <a:xfrm>
            <a:off x="411480" y="2249424"/>
            <a:ext cx="8851392" cy="749808"/>
          </a:xfrm>
          <a:prstGeom prst="roundRect">
            <a:avLst>
              <a:gd name="adj" fmla="val 6098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5" name="band Build"/>
          <p:cNvSpPr/>
          <p:nvPr/>
        </p:nvSpPr>
        <p:spPr>
          <a:xfrm>
            <a:off x="411480" y="2249424"/>
            <a:ext cx="1078992" cy="749808"/>
          </a:xfrm>
          <a:prstGeom prst="roundRect">
            <a:avLst>
              <a:gd name="adj" fmla="val 6098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56" name="Text 42"/>
          <p:cNvSpPr txBox="1"/>
          <p:nvPr/>
        </p:nvSpPr>
        <p:spPr>
          <a:xfrm>
            <a:off x="521208" y="2322576"/>
            <a:ext cx="8961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Build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Sonic, at setup</a:t>
            </a:r>
            <a:endParaRPr lang="en-US" sz="1200" dirty="0"/>
          </a:p>
        </p:txBody>
      </p:sp>
      <p:sp>
        <p:nvSpPr>
          <p:cNvPr id="57" name="build Discover"/>
          <p:cNvSpPr/>
          <p:nvPr/>
        </p:nvSpPr>
        <p:spPr>
          <a:xfrm>
            <a:off x="1600200" y="2340864"/>
            <a:ext cx="1764792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58" name="Text 44"/>
          <p:cNvSpPr txBox="1"/>
          <p:nvPr/>
        </p:nvSpPr>
        <p:spPr>
          <a:xfrm>
            <a:off x="1691640" y="234086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Discover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reads systems, docs and tickets</a:t>
            </a:r>
            <a:endParaRPr lang="en-US" sz="1050" dirty="0"/>
          </a:p>
        </p:txBody>
      </p:sp>
      <p:sp>
        <p:nvSpPr>
          <p:cNvPr id="59" name="build chevron 0"/>
          <p:cNvSpPr/>
          <p:nvPr/>
        </p:nvSpPr>
        <p:spPr>
          <a:xfrm>
            <a:off x="3383280" y="262432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0" name="build Ticket audit"/>
          <p:cNvSpPr/>
          <p:nvPr/>
        </p:nvSpPr>
        <p:spPr>
          <a:xfrm>
            <a:off x="3529584" y="2340864"/>
            <a:ext cx="1764792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1" name="Text 47"/>
          <p:cNvSpPr txBox="1"/>
          <p:nvPr/>
        </p:nvSpPr>
        <p:spPr>
          <a:xfrm>
            <a:off x="3621024" y="234086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Ticket audit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ranks journeys, flags legacy fixes</a:t>
            </a:r>
            <a:endParaRPr lang="en-US" sz="1050" dirty="0"/>
          </a:p>
        </p:txBody>
      </p:sp>
      <p:sp>
        <p:nvSpPr>
          <p:cNvPr id="62" name="build chevron 1"/>
          <p:cNvSpPr/>
          <p:nvPr/>
        </p:nvSpPr>
        <p:spPr>
          <a:xfrm>
            <a:off x="5312664" y="262432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3" name="build Interview guide"/>
          <p:cNvSpPr/>
          <p:nvPr/>
        </p:nvSpPr>
        <p:spPr>
          <a:xfrm>
            <a:off x="5458968" y="2340864"/>
            <a:ext cx="1764792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4" name="Text 50"/>
          <p:cNvSpPr txBox="1"/>
          <p:nvPr/>
        </p:nvSpPr>
        <p:spPr>
          <a:xfrm>
            <a:off x="5550408" y="234086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Interview guide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gaps become questions, transcripts come back</a:t>
            </a:r>
            <a:endParaRPr lang="en-US" sz="1050" dirty="0"/>
          </a:p>
        </p:txBody>
      </p:sp>
      <p:sp>
        <p:nvSpPr>
          <p:cNvPr id="65" name="build chevron 2"/>
          <p:cNvSpPr/>
          <p:nvPr/>
        </p:nvSpPr>
        <p:spPr>
          <a:xfrm>
            <a:off x="7242048" y="2624328"/>
            <a:ext cx="12801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66" name="build Draft with sources"/>
          <p:cNvSpPr/>
          <p:nvPr/>
        </p:nvSpPr>
        <p:spPr>
          <a:xfrm>
            <a:off x="7388352" y="2340864"/>
            <a:ext cx="1764792" cy="566928"/>
          </a:xfrm>
          <a:prstGeom prst="roundRect">
            <a:avLst>
              <a:gd name="adj" fmla="val 8065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7" name="Text 53"/>
          <p:cNvSpPr txBox="1"/>
          <p:nvPr/>
        </p:nvSpPr>
        <p:spPr>
          <a:xfrm>
            <a:off x="7479792" y="2340864"/>
            <a:ext cx="1581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Draft with sources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every claim cites its source</a:t>
            </a:r>
            <a:endParaRPr lang="en-US" sz="1050" dirty="0"/>
          </a:p>
        </p:txBody>
      </p:sp>
      <p:sp>
        <p:nvSpPr>
          <p:cNvPr id="68" name="layer Knowledge"/>
          <p:cNvSpPr/>
          <p:nvPr/>
        </p:nvSpPr>
        <p:spPr>
          <a:xfrm>
            <a:off x="411480" y="3291840"/>
            <a:ext cx="8851392" cy="1627632"/>
          </a:xfrm>
          <a:prstGeom prst="roundRect">
            <a:avLst>
              <a:gd name="adj" fmla="val 2809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69" name="band Knowledge"/>
          <p:cNvSpPr/>
          <p:nvPr/>
        </p:nvSpPr>
        <p:spPr>
          <a:xfrm>
            <a:off x="411480" y="3291840"/>
            <a:ext cx="1078992" cy="1627632"/>
          </a:xfrm>
          <a:prstGeom prst="roundRect">
            <a:avLst>
              <a:gd name="adj" fmla="val 4237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0" name="Text 56"/>
          <p:cNvSpPr txBox="1"/>
          <p:nvPr/>
        </p:nvSpPr>
        <p:spPr>
          <a:xfrm>
            <a:off x="521208" y="3364992"/>
            <a:ext cx="896112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Knowledge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client Git repo, OKF Markdown</a:t>
            </a:r>
            <a:endParaRPr lang="en-US" sz="1200" dirty="0"/>
          </a:p>
        </p:txBody>
      </p:sp>
      <p:pic>
        <p:nvPicPr>
          <p:cNvPr id="71" name="Image 12" descr="git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21208" y="4572000"/>
            <a:ext cx="201168" cy="201168"/>
          </a:xfrm>
          <a:prstGeom prst="rect">
            <a:avLst/>
          </a:prstGeom>
        </p:spPr>
      </p:pic>
      <p:pic>
        <p:nvPicPr>
          <p:cNvPr id="72" name="Image 13" descr="github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7240" y="4572000"/>
            <a:ext cx="201168" cy="201168"/>
          </a:xfrm>
          <a:prstGeom prst="rect">
            <a:avLst/>
          </a:prstGeom>
        </p:spPr>
      </p:pic>
      <p:sp>
        <p:nvSpPr>
          <p:cNvPr id="73" name="tier Craft"/>
          <p:cNvSpPr/>
          <p:nvPr/>
        </p:nvSpPr>
        <p:spPr>
          <a:xfrm>
            <a:off x="1600200" y="3401568"/>
            <a:ext cx="2240280" cy="4114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4" name="Text 58"/>
          <p:cNvSpPr txBox="1"/>
          <p:nvPr/>
        </p:nvSpPr>
        <p:spPr>
          <a:xfrm>
            <a:off x="1691640" y="34015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Craft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plugin skills, any client</a:t>
            </a:r>
            <a:endParaRPr lang="en-US" sz="1050" dirty="0"/>
          </a:p>
        </p:txBody>
      </p:sp>
      <p:sp>
        <p:nvSpPr>
          <p:cNvPr id="75" name="tier Enterprise"/>
          <p:cNvSpPr/>
          <p:nvPr/>
        </p:nvSpPr>
        <p:spPr>
          <a:xfrm>
            <a:off x="1600200" y="3886200"/>
            <a:ext cx="2240280" cy="411480"/>
          </a:xfrm>
          <a:prstGeom prst="roundRect">
            <a:avLst>
              <a:gd name="adj" fmla="val 1111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76" name="Text 60"/>
          <p:cNvSpPr txBox="1"/>
          <p:nvPr/>
        </p:nvSpPr>
        <p:spPr>
          <a:xfrm>
            <a:off x="1691640" y="38862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Enterprise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brands, people, terms</a:t>
            </a:r>
            <a:endParaRPr lang="en-US" sz="1050" dirty="0"/>
          </a:p>
        </p:txBody>
      </p:sp>
      <p:sp>
        <p:nvSpPr>
          <p:cNvPr id="77" name="tier Project"/>
          <p:cNvSpPr/>
          <p:nvPr/>
        </p:nvSpPr>
        <p:spPr>
          <a:xfrm>
            <a:off x="1600200" y="4370832"/>
            <a:ext cx="2240280" cy="411480"/>
          </a:xfrm>
          <a:prstGeom prst="roundRect">
            <a:avLst>
              <a:gd name="adj" fmla="val 11111"/>
            </a:avLst>
          </a:prstGeom>
          <a:solidFill>
            <a:schemeClr val="accent3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8" name="Text 62"/>
          <p:cNvSpPr txBox="1"/>
          <p:nvPr/>
        </p:nvSpPr>
        <p:spPr>
          <a:xfrm>
            <a:off x="1691640" y="4370832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Project  </a:t>
            </a:r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one team's operations</a:t>
            </a:r>
            <a:endParaRPr lang="en-US" sz="1050" dirty="0"/>
          </a:p>
        </p:txBody>
      </p:sp>
      <p:sp>
        <p:nvSpPr>
          <p:cNvPr id="79" name="Text 63"/>
          <p:cNvSpPr txBox="1"/>
          <p:nvPr/>
        </p:nvSpPr>
        <p:spPr>
          <a:xfrm>
            <a:off x="3977640" y="3383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Shelves in every project base</a:t>
            </a:r>
            <a:endParaRPr lang="en-US" sz="950" dirty="0"/>
          </a:p>
        </p:txBody>
      </p:sp>
      <p:sp>
        <p:nvSpPr>
          <p:cNvPr id="80" name="shelf manual"/>
          <p:cNvSpPr/>
          <p:nvPr/>
        </p:nvSpPr>
        <p:spPr>
          <a:xfrm>
            <a:off x="3977640" y="3657600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1" name="Text 65"/>
          <p:cNvSpPr txBox="1"/>
          <p:nvPr/>
        </p:nvSpPr>
        <p:spPr>
          <a:xfrm>
            <a:off x="3977640" y="36576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manual</a:t>
            </a:r>
            <a:endParaRPr lang="en-US" sz="850" dirty="0"/>
          </a:p>
        </p:txBody>
      </p:sp>
      <p:sp>
        <p:nvSpPr>
          <p:cNvPr id="82" name="shelf business"/>
          <p:cNvSpPr/>
          <p:nvPr/>
        </p:nvSpPr>
        <p:spPr>
          <a:xfrm>
            <a:off x="4773168" y="3657600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3" name="Text 67"/>
          <p:cNvSpPr txBox="1"/>
          <p:nvPr/>
        </p:nvSpPr>
        <p:spPr>
          <a:xfrm>
            <a:off x="4773168" y="36576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business</a:t>
            </a:r>
            <a:endParaRPr lang="en-US" sz="850" dirty="0"/>
          </a:p>
        </p:txBody>
      </p:sp>
      <p:sp>
        <p:nvSpPr>
          <p:cNvPr id="84" name="shelf team"/>
          <p:cNvSpPr/>
          <p:nvPr/>
        </p:nvSpPr>
        <p:spPr>
          <a:xfrm>
            <a:off x="5568696" y="3657600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5" name="Text 69"/>
          <p:cNvSpPr txBox="1"/>
          <p:nvPr/>
        </p:nvSpPr>
        <p:spPr>
          <a:xfrm>
            <a:off x="5568696" y="36576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team</a:t>
            </a:r>
            <a:endParaRPr lang="en-US" sz="850" dirty="0"/>
          </a:p>
        </p:txBody>
      </p:sp>
      <p:sp>
        <p:nvSpPr>
          <p:cNvPr id="86" name="shelf systems"/>
          <p:cNvSpPr/>
          <p:nvPr/>
        </p:nvSpPr>
        <p:spPr>
          <a:xfrm>
            <a:off x="6364224" y="3657600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7" name="Text 71"/>
          <p:cNvSpPr txBox="1"/>
          <p:nvPr/>
        </p:nvSpPr>
        <p:spPr>
          <a:xfrm>
            <a:off x="6364224" y="3657600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systems</a:t>
            </a:r>
            <a:endParaRPr lang="en-US" sz="850" dirty="0"/>
          </a:p>
        </p:txBody>
      </p:sp>
      <p:sp>
        <p:nvSpPr>
          <p:cNvPr id="88" name="shelf data"/>
          <p:cNvSpPr/>
          <p:nvPr/>
        </p:nvSpPr>
        <p:spPr>
          <a:xfrm>
            <a:off x="3977640" y="3986784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89" name="Text 73"/>
          <p:cNvSpPr txBox="1"/>
          <p:nvPr/>
        </p:nvSpPr>
        <p:spPr>
          <a:xfrm>
            <a:off x="3977640" y="39867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data</a:t>
            </a:r>
            <a:endParaRPr lang="en-US" sz="850" dirty="0"/>
          </a:p>
        </p:txBody>
      </p:sp>
      <p:sp>
        <p:nvSpPr>
          <p:cNvPr id="90" name="shelf pipelines"/>
          <p:cNvSpPr/>
          <p:nvPr/>
        </p:nvSpPr>
        <p:spPr>
          <a:xfrm>
            <a:off x="4773168" y="3986784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1" name="Text 75"/>
          <p:cNvSpPr txBox="1"/>
          <p:nvPr/>
        </p:nvSpPr>
        <p:spPr>
          <a:xfrm>
            <a:off x="4773168" y="39867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pipelines</a:t>
            </a:r>
            <a:endParaRPr lang="en-US" sz="850" dirty="0"/>
          </a:p>
        </p:txBody>
      </p:sp>
      <p:sp>
        <p:nvSpPr>
          <p:cNvPr id="92" name="shelf requests"/>
          <p:cNvSpPr/>
          <p:nvPr/>
        </p:nvSpPr>
        <p:spPr>
          <a:xfrm>
            <a:off x="5568696" y="3986784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3" name="Text 77"/>
          <p:cNvSpPr txBox="1"/>
          <p:nvPr/>
        </p:nvSpPr>
        <p:spPr>
          <a:xfrm>
            <a:off x="5568696" y="39867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requests</a:t>
            </a:r>
            <a:endParaRPr lang="en-US" sz="850" dirty="0"/>
          </a:p>
        </p:txBody>
      </p:sp>
      <p:sp>
        <p:nvSpPr>
          <p:cNvPr id="94" name="shelf runbooks"/>
          <p:cNvSpPr/>
          <p:nvPr/>
        </p:nvSpPr>
        <p:spPr>
          <a:xfrm>
            <a:off x="6364224" y="3986784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5" name="Text 79"/>
          <p:cNvSpPr txBox="1"/>
          <p:nvPr/>
        </p:nvSpPr>
        <p:spPr>
          <a:xfrm>
            <a:off x="6364224" y="3986784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runbooks</a:t>
            </a:r>
            <a:endParaRPr lang="en-US" sz="850" dirty="0"/>
          </a:p>
        </p:txBody>
      </p:sp>
      <p:sp>
        <p:nvSpPr>
          <p:cNvPr id="96" name="shelf known-issues"/>
          <p:cNvSpPr/>
          <p:nvPr/>
        </p:nvSpPr>
        <p:spPr>
          <a:xfrm>
            <a:off x="3977640" y="4315968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7" name="Text 81"/>
          <p:cNvSpPr txBox="1"/>
          <p:nvPr/>
        </p:nvSpPr>
        <p:spPr>
          <a:xfrm>
            <a:off x="3977640" y="43159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known-issues</a:t>
            </a:r>
            <a:endParaRPr lang="en-US" sz="850" dirty="0"/>
          </a:p>
        </p:txBody>
      </p:sp>
      <p:sp>
        <p:nvSpPr>
          <p:cNvPr id="98" name="shelf decisions"/>
          <p:cNvSpPr/>
          <p:nvPr/>
        </p:nvSpPr>
        <p:spPr>
          <a:xfrm>
            <a:off x="4773168" y="4315968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99" name="Text 83"/>
          <p:cNvSpPr txBox="1"/>
          <p:nvPr/>
        </p:nvSpPr>
        <p:spPr>
          <a:xfrm>
            <a:off x="4773168" y="43159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decisions</a:t>
            </a:r>
            <a:endParaRPr lang="en-US" sz="850" dirty="0"/>
          </a:p>
        </p:txBody>
      </p:sp>
      <p:sp>
        <p:nvSpPr>
          <p:cNvPr id="100" name="shelf sources"/>
          <p:cNvSpPr/>
          <p:nvPr/>
        </p:nvSpPr>
        <p:spPr>
          <a:xfrm>
            <a:off x="5568696" y="4315968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1" name="Text 85"/>
          <p:cNvSpPr txBox="1"/>
          <p:nvPr/>
        </p:nvSpPr>
        <p:spPr>
          <a:xfrm>
            <a:off x="5568696" y="43159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sources</a:t>
            </a:r>
            <a:endParaRPr lang="en-US" sz="850" dirty="0"/>
          </a:p>
        </p:txBody>
      </p:sp>
      <p:sp>
        <p:nvSpPr>
          <p:cNvPr id="102" name="shelf evals"/>
          <p:cNvSpPr/>
          <p:nvPr/>
        </p:nvSpPr>
        <p:spPr>
          <a:xfrm>
            <a:off x="6364224" y="4315968"/>
            <a:ext cx="731520" cy="265176"/>
          </a:xfrm>
          <a:prstGeom prst="roundRect">
            <a:avLst>
              <a:gd name="adj" fmla="val 17241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3" name="Text 87"/>
          <p:cNvSpPr txBox="1"/>
          <p:nvPr/>
        </p:nvSpPr>
        <p:spPr>
          <a:xfrm>
            <a:off x="6364224" y="4315968"/>
            <a:ext cx="7315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evals</a:t>
            </a:r>
            <a:endParaRPr lang="en-US" sz="850" dirty="0"/>
          </a:p>
        </p:txBody>
      </p:sp>
      <p:sp>
        <p:nvSpPr>
          <p:cNvPr id="104" name="Text 88"/>
          <p:cNvSpPr txBox="1"/>
          <p:nvPr/>
        </p:nvSpPr>
        <p:spPr>
          <a:xfrm>
            <a:off x="3977640" y="4663440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chemeClr val="tx2"/>
                </a:solidFill>
              </a:rPr>
              <a:t>Links are the graph: pipeline → brand → stakeholder → vendor</a:t>
            </a:r>
            <a:endParaRPr lang="en-US" sz="900" dirty="0"/>
          </a:p>
        </p:txBody>
      </p:sp>
      <p:sp>
        <p:nvSpPr>
          <p:cNvPr id="105" name="page format"/>
          <p:cNvSpPr/>
          <p:nvPr/>
        </p:nvSpPr>
        <p:spPr>
          <a:xfrm>
            <a:off x="7269480" y="3401568"/>
            <a:ext cx="1883664" cy="1408176"/>
          </a:xfrm>
          <a:prstGeom prst="roundRect">
            <a:avLst>
              <a:gd name="adj" fmla="val 3247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6" name="Text 90"/>
          <p:cNvSpPr txBox="1"/>
          <p:nvPr/>
        </p:nvSpPr>
        <p:spPr>
          <a:xfrm>
            <a:off x="7379208" y="3456432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Page format</a:t>
            </a:r>
            <a:endParaRPr lang="en-US" sz="950" dirty="0"/>
          </a:p>
        </p:txBody>
      </p:sp>
      <p:sp>
        <p:nvSpPr>
          <p:cNvPr id="107" name="Text 91"/>
          <p:cNvSpPr txBox="1"/>
          <p:nvPr/>
        </p:nvSpPr>
        <p:spPr>
          <a:xfrm>
            <a:off x="7379208" y="3675888"/>
            <a:ext cx="17007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Pipeline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sla: "06:00 CET"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upstream: [iqvia-feed]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brands: [brand-x]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owner: eu-data-eng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status: kept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sources: [INC-4821, kt-1.vtt]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800" dirty="0"/>
          </a:p>
        </p:txBody>
      </p:sp>
      <p:sp>
        <p:nvSpPr>
          <p:cNvPr id="108" name="layer Govern"/>
          <p:cNvSpPr/>
          <p:nvPr/>
        </p:nvSpPr>
        <p:spPr>
          <a:xfrm>
            <a:off x="411480" y="5193792"/>
            <a:ext cx="11365992" cy="786384"/>
          </a:xfrm>
          <a:prstGeom prst="roundRect">
            <a:avLst>
              <a:gd name="adj" fmla="val 5814"/>
            </a:avLst>
          </a:prstGeom>
          <a:solidFill>
            <a:schemeClr val="bg2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09" name="band Govern"/>
          <p:cNvSpPr/>
          <p:nvPr/>
        </p:nvSpPr>
        <p:spPr>
          <a:xfrm>
            <a:off x="411480" y="5193792"/>
            <a:ext cx="1078992" cy="786384"/>
          </a:xfrm>
          <a:prstGeom prst="roundRect">
            <a:avLst>
              <a:gd name="adj" fmla="val 5814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0" name="Text 94"/>
          <p:cNvSpPr txBox="1"/>
          <p:nvPr/>
        </p:nvSpPr>
        <p:spPr>
          <a:xfrm>
            <a:off x="521208" y="5266944"/>
            <a:ext cx="896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Govern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people decide</a:t>
            </a:r>
            <a:endParaRPr lang="en-US" sz="1200" dirty="0"/>
          </a:p>
        </p:txBody>
      </p:sp>
      <p:sp>
        <p:nvSpPr>
          <p:cNvPr id="111" name="govern Review drafts"/>
          <p:cNvSpPr/>
          <p:nvPr/>
        </p:nvSpPr>
        <p:spPr>
          <a:xfrm>
            <a:off x="1600200" y="5285232"/>
            <a:ext cx="243459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2" name="Text 96"/>
          <p:cNvSpPr txBox="1"/>
          <p:nvPr/>
        </p:nvSpPr>
        <p:spPr>
          <a:xfrm>
            <a:off x="1691640" y="5285232"/>
            <a:ext cx="22517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Review drafts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keep or discard, on the Knowledge page or as a Git PR</a:t>
            </a:r>
            <a:endParaRPr lang="en-US" sz="1050" dirty="0"/>
          </a:p>
        </p:txBody>
      </p:sp>
      <p:sp>
        <p:nvSpPr>
          <p:cNvPr id="113" name="govern Weekly pass"/>
          <p:cNvSpPr/>
          <p:nvPr/>
        </p:nvSpPr>
        <p:spPr>
          <a:xfrm>
            <a:off x="4144518" y="5285232"/>
            <a:ext cx="243459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4" name="Text 98"/>
          <p:cNvSpPr txBox="1"/>
          <p:nvPr/>
        </p:nvSpPr>
        <p:spPr>
          <a:xfrm>
            <a:off x="4235958" y="5285232"/>
            <a:ext cx="22517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Weekly pass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dedupe, stale pages, drift from live systems, changed docs</a:t>
            </a:r>
            <a:endParaRPr lang="en-US" sz="1050" dirty="0"/>
          </a:p>
        </p:txBody>
      </p:sp>
      <p:sp>
        <p:nvSpPr>
          <p:cNvPr id="115" name="govern Evals per journey"/>
          <p:cNvSpPr/>
          <p:nvPr/>
        </p:nvSpPr>
        <p:spPr>
          <a:xfrm>
            <a:off x="6688836" y="5285232"/>
            <a:ext cx="243459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6" name="Text 100"/>
          <p:cNvSpPr txBox="1"/>
          <p:nvPr/>
        </p:nvSpPr>
        <p:spPr>
          <a:xfrm>
            <a:off x="6780276" y="5285232"/>
            <a:ext cx="22517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Evals per journey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resolved tickets replayed with the answer hidden</a:t>
            </a:r>
            <a:endParaRPr lang="en-US" sz="1050" dirty="0"/>
          </a:p>
        </p:txBody>
      </p:sp>
      <p:sp>
        <p:nvSpPr>
          <p:cNvPr id="117" name="govern Earned autonomy"/>
          <p:cNvSpPr/>
          <p:nvPr/>
        </p:nvSpPr>
        <p:spPr>
          <a:xfrm>
            <a:off x="9233154" y="5285232"/>
            <a:ext cx="2434590" cy="603504"/>
          </a:xfrm>
          <a:prstGeom prst="roundRect">
            <a:avLst>
              <a:gd name="adj" fmla="val 7576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118" name="Text 102"/>
          <p:cNvSpPr txBox="1"/>
          <p:nvPr/>
        </p:nvSpPr>
        <p:spPr>
          <a:xfrm>
            <a:off x="9324594" y="5285232"/>
            <a:ext cx="225171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Earned autonomy</a:t>
            </a:r>
            <a:endParaRPr lang="en-US" sz="1050" dirty="0"/>
          </a:p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draft, then act on low risk, then audit, journey by journey</a:t>
            </a:r>
            <a:endParaRPr lang="en-US" sz="1050" dirty="0"/>
          </a:p>
        </p:txBody>
      </p:sp>
      <p:sp>
        <p:nvSpPr>
          <p:cNvPr id="119" name="flow 1"/>
          <p:cNvSpPr/>
          <p:nvPr/>
        </p:nvSpPr>
        <p:spPr>
          <a:xfrm>
            <a:off x="2011680" y="1975104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0" name="step 1"/>
          <p:cNvSpPr/>
          <p:nvPr/>
        </p:nvSpPr>
        <p:spPr>
          <a:xfrm>
            <a:off x="2121408" y="1993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1" name="Text 105"/>
          <p:cNvSpPr txBox="1"/>
          <p:nvPr/>
        </p:nvSpPr>
        <p:spPr>
          <a:xfrm>
            <a:off x="2121408" y="1993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122" name="Text 106"/>
          <p:cNvSpPr txBox="1"/>
          <p:nvPr/>
        </p:nvSpPr>
        <p:spPr>
          <a:xfrm>
            <a:off x="2395728" y="1993392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seed: read what exists</a:t>
            </a:r>
            <a:endParaRPr lang="en-US" sz="950" dirty="0"/>
          </a:p>
        </p:txBody>
      </p:sp>
      <p:sp>
        <p:nvSpPr>
          <p:cNvPr id="123" name="flow 2"/>
          <p:cNvSpPr/>
          <p:nvPr/>
        </p:nvSpPr>
        <p:spPr>
          <a:xfrm>
            <a:off x="2011680" y="3017520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4" name="step 2"/>
          <p:cNvSpPr/>
          <p:nvPr/>
        </p:nvSpPr>
        <p:spPr>
          <a:xfrm>
            <a:off x="2121408" y="303580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5" name="Text 109"/>
          <p:cNvSpPr txBox="1"/>
          <p:nvPr/>
        </p:nvSpPr>
        <p:spPr>
          <a:xfrm>
            <a:off x="2121408" y="303580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126" name="Text 110"/>
          <p:cNvSpPr txBox="1"/>
          <p:nvPr/>
        </p:nvSpPr>
        <p:spPr>
          <a:xfrm>
            <a:off x="2395728" y="303580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drafts with sources</a:t>
            </a:r>
            <a:endParaRPr lang="en-US" sz="950" dirty="0"/>
          </a:p>
        </p:txBody>
      </p:sp>
      <p:sp>
        <p:nvSpPr>
          <p:cNvPr id="127" name="flow 3"/>
          <p:cNvSpPr/>
          <p:nvPr/>
        </p:nvSpPr>
        <p:spPr>
          <a:xfrm>
            <a:off x="9281160" y="4114800"/>
            <a:ext cx="192024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headEnd type="triangle"/>
            <a:tailEnd type="triangle"/>
          </a:ln>
        </p:spPr>
      </p:sp>
      <p:sp>
        <p:nvSpPr>
          <p:cNvPr id="128" name="step 3"/>
          <p:cNvSpPr/>
          <p:nvPr/>
        </p:nvSpPr>
        <p:spPr>
          <a:xfrm>
            <a:off x="9267444" y="376732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9" name="Text 113"/>
          <p:cNvSpPr txBox="1"/>
          <p:nvPr/>
        </p:nvSpPr>
        <p:spPr>
          <a:xfrm>
            <a:off x="9267444" y="37673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130" name="flow 4"/>
          <p:cNvSpPr/>
          <p:nvPr/>
        </p:nvSpPr>
        <p:spPr>
          <a:xfrm>
            <a:off x="10607040" y="4937760"/>
            <a:ext cx="0" cy="23774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1" name="step 4"/>
          <p:cNvSpPr/>
          <p:nvPr/>
        </p:nvSpPr>
        <p:spPr>
          <a:xfrm>
            <a:off x="10716768" y="4956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2" name="Text 116"/>
          <p:cNvSpPr txBox="1"/>
          <p:nvPr/>
        </p:nvSpPr>
        <p:spPr>
          <a:xfrm>
            <a:off x="10716768" y="4956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4</a:t>
            </a:r>
            <a:endParaRPr lang="en-US" sz="900" dirty="0"/>
          </a:p>
        </p:txBody>
      </p:sp>
      <p:sp>
        <p:nvSpPr>
          <p:cNvPr id="133" name="Text 117"/>
          <p:cNvSpPr txBox="1"/>
          <p:nvPr/>
        </p:nvSpPr>
        <p:spPr>
          <a:xfrm>
            <a:off x="10991088" y="495604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learnings</a:t>
            </a:r>
            <a:endParaRPr lang="en-US" sz="950" dirty="0"/>
          </a:p>
        </p:txBody>
      </p:sp>
      <p:sp>
        <p:nvSpPr>
          <p:cNvPr id="134" name="flow 5"/>
          <p:cNvSpPr/>
          <p:nvPr/>
        </p:nvSpPr>
        <p:spPr>
          <a:xfrm flipV="1">
            <a:off x="5852160" y="4937760"/>
            <a:ext cx="0" cy="237744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5" name="step 5"/>
          <p:cNvSpPr/>
          <p:nvPr/>
        </p:nvSpPr>
        <p:spPr>
          <a:xfrm>
            <a:off x="5961888" y="4956048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6" name="Text 120"/>
          <p:cNvSpPr txBox="1"/>
          <p:nvPr/>
        </p:nvSpPr>
        <p:spPr>
          <a:xfrm>
            <a:off x="5961888" y="49560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</a:t>
            </a:r>
            <a:endParaRPr lang="en-US" sz="900" dirty="0"/>
          </a:p>
        </p:txBody>
      </p:sp>
      <p:sp>
        <p:nvSpPr>
          <p:cNvPr id="137" name="Text 121"/>
          <p:cNvSpPr txBox="1"/>
          <p:nvPr/>
        </p:nvSpPr>
        <p:spPr>
          <a:xfrm>
            <a:off x="6236208" y="4956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kept by a person</a:t>
            </a:r>
            <a:endParaRPr lang="en-US" sz="950" dirty="0"/>
          </a:p>
        </p:txBody>
      </p:sp>
      <p:sp>
        <p:nvSpPr>
          <p:cNvPr id="138" name="flow 6"/>
          <p:cNvSpPr/>
          <p:nvPr/>
        </p:nvSpPr>
        <p:spPr>
          <a:xfrm>
            <a:off x="10607040" y="1975104"/>
            <a:ext cx="0" cy="256032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9" name="step 6"/>
          <p:cNvSpPr/>
          <p:nvPr/>
        </p:nvSpPr>
        <p:spPr>
          <a:xfrm>
            <a:off x="10716768" y="1993392"/>
            <a:ext cx="219456" cy="21945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0" name="Text 124"/>
          <p:cNvSpPr txBox="1"/>
          <p:nvPr/>
        </p:nvSpPr>
        <p:spPr>
          <a:xfrm>
            <a:off x="10716768" y="1993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6</a:t>
            </a:r>
            <a:endParaRPr lang="en-US" sz="900" dirty="0"/>
          </a:p>
        </p:txBody>
      </p:sp>
      <p:sp>
        <p:nvSpPr>
          <p:cNvPr id="141" name="Text 125"/>
          <p:cNvSpPr txBox="1"/>
          <p:nvPr/>
        </p:nvSpPr>
        <p:spPr>
          <a:xfrm>
            <a:off x="10991088" y="1993392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live reads</a:t>
            </a:r>
            <a:endParaRPr lang="en-US" sz="950" dirty="0"/>
          </a:p>
        </p:txBody>
      </p:sp>
      <p:sp>
        <p:nvSpPr>
          <p:cNvPr id="142" name="Text 126"/>
          <p:cNvSpPr txBox="1"/>
          <p:nvPr/>
        </p:nvSpPr>
        <p:spPr>
          <a:xfrm>
            <a:off x="411480" y="6172200"/>
            <a:ext cx="11365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4"/>
                </a:solidFill>
              </a:rPr>
              <a:t>Principles   </a:t>
            </a:r>
            <a:pPr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Live state is read, never copied  ·  No graph database or vector store: typed links are the graph  ·  Every agent write is a draft until a person keeps it  ·  Connectors scoped to ops spaces, no secrets or personal data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rveCenter reference architecture">
  <a:themeElements>
    <a:clrScheme name="NerveCenter reference architecture">
      <a:dk1>
        <a:srgbClr val="111827"/>
      </a:dk1>
      <a:lt1>
        <a:srgbClr val="FFFFFF"/>
      </a:lt1>
      <a:dk2>
        <a:srgbClr val="6B7280"/>
      </a:dk2>
      <a:lt2>
        <a:srgbClr val="F7F9FC"/>
      </a:lt2>
      <a:accent1>
        <a:srgbClr val="2563EB"/>
      </a:accent1>
      <a:accent2>
        <a:srgbClr val="E3E8EF"/>
      </a:accent2>
      <a:accent3>
        <a:srgbClr val="E8EEFB"/>
      </a:accent3>
      <a:accent4>
        <a:srgbClr val="1E3A8A"/>
      </a:accent4>
      <a:accent5>
        <a:srgbClr val="CBD5E1"/>
      </a:accent5>
      <a:accent6>
        <a:srgbClr val="374151"/>
      </a:accent6>
      <a:hlink>
        <a:srgbClr val="2563EB"/>
      </a:hlink>
      <a:folHlink>
        <a:srgbClr val="6B7280"/>
      </a:folHlink>
    </a:clrScheme>
    <a:fontScheme name="NerveCenter reference architec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NerveCenter knowledge layer reference architecture</dc:title>
  <dc:subject>PptxGenJS Presentation</dc:subject>
  <dc:creator>Mitesh Shinde</dc:creator>
  <cp:lastModifiedBy>Mitesh Shinde</cp:lastModifiedBy>
  <cp:revision>1</cp:revision>
  <dcterms:created xsi:type="dcterms:W3CDTF">2026-10-20T06:48:44Z</dcterms:created>
  <dcterms:modified xsi:type="dcterms:W3CDTF">2026-10-20T06:48:44Z</dcterms:modified>
</cp:coreProperties>
</file>